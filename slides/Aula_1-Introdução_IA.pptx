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8c2c23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8c2c23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8c2c233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8c2c233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8c2c233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8c2c233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08c2c233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08c2c233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08c2c233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08c2c233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08c2c233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08c2c233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8c2c23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08c2c23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08c2c233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08c2c233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08c2c233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08c2c233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8c2c233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08c2c233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08c2c233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08c2c233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08c2c233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08c2c233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8c2c233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08c2c233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08c2c2337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08c2c2337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8c2c233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08c2c233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08c2c233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08c2c233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08c2c2337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08c2c2337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</a:t>
            </a:r>
            <a:r>
              <a:rPr lang="pt-BR"/>
              <a:t>ção a Inteligência Artificial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</a:t>
            </a:r>
            <a:r>
              <a:rPr lang="pt-BR"/>
              <a:t>ão Computacional Moderna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</a:t>
            </a:r>
            <a:r>
              <a:rPr lang="pt-BR"/>
              <a:t>é Inteligência Artificial?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475" y="1180398"/>
            <a:ext cx="6517051" cy="34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surgiu?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1950 - </a:t>
            </a:r>
            <a:r>
              <a:rPr lang="pt-BR"/>
              <a:t>"Podem máquinas pensar?"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jogo da Imitação - Teste de Turing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Objeções da comunidade ( Chimpanzé e </a:t>
            </a:r>
            <a:r>
              <a:rPr lang="pt-BR"/>
              <a:t>Máquina</a:t>
            </a:r>
            <a:r>
              <a:rPr lang="pt-BR"/>
              <a:t> Memorizadora)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2675" y="2689525"/>
            <a:ext cx="539474" cy="4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Linha do tempo da IA</a:t>
            </a:r>
            <a:endParaRPr/>
          </a:p>
        </p:txBody>
      </p:sp>
      <p:cxnSp>
        <p:nvCxnSpPr>
          <p:cNvPr id="74" name="Google Shape;74;p16"/>
          <p:cNvCxnSpPr/>
          <p:nvPr/>
        </p:nvCxnSpPr>
        <p:spPr>
          <a:xfrm>
            <a:off x="662025" y="2888225"/>
            <a:ext cx="7697100" cy="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" name="Google Shape;75;p16"/>
          <p:cNvSpPr/>
          <p:nvPr/>
        </p:nvSpPr>
        <p:spPr>
          <a:xfrm>
            <a:off x="360675" y="1513200"/>
            <a:ext cx="17061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1943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Esbo</a:t>
            </a:r>
            <a:r>
              <a:rPr b="1" lang="pt-BR">
                <a:solidFill>
                  <a:schemeClr val="lt1"/>
                </a:solidFill>
              </a:rPr>
              <a:t>ço da arquitetura RNA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397475" y="3033550"/>
            <a:ext cx="17061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1950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"Podem Maquinas Pensar?"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438000" y="1513200"/>
            <a:ext cx="17061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</a:t>
            </a:r>
            <a:r>
              <a:rPr b="1" lang="pt-BR">
                <a:solidFill>
                  <a:schemeClr val="lt1"/>
                </a:solidFill>
              </a:rPr>
              <a:t>56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Defini</a:t>
            </a:r>
            <a:r>
              <a:rPr b="1" lang="pt-BR">
                <a:solidFill>
                  <a:schemeClr val="lt1"/>
                </a:solidFill>
              </a:rPr>
              <a:t>ção de Inteligência Artificial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34550" y="3033550"/>
            <a:ext cx="17061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1958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Primeira "Rede Neural Artificial</a:t>
            </a:r>
            <a:r>
              <a:rPr b="1" lang="pt-BR">
                <a:solidFill>
                  <a:schemeClr val="lt1"/>
                </a:solidFill>
              </a:rPr>
              <a:t>"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515325" y="1513200"/>
            <a:ext cx="15336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1959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Aprendizado de </a:t>
            </a:r>
            <a:r>
              <a:rPr b="1" lang="pt-BR">
                <a:solidFill>
                  <a:schemeClr val="lt1"/>
                </a:solidFill>
              </a:rPr>
              <a:t>máquina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(xadrez)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471625" y="3033550"/>
            <a:ext cx="17637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1965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Primeiro ChatBot</a:t>
            </a:r>
            <a:br>
              <a:rPr b="1" lang="pt-BR">
                <a:solidFill>
                  <a:schemeClr val="lt1"/>
                </a:solidFill>
              </a:rPr>
            </a:br>
            <a:r>
              <a:rPr b="1" lang="pt-BR">
                <a:solidFill>
                  <a:schemeClr val="lt1"/>
                </a:solidFill>
              </a:rPr>
              <a:t>(eliza)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420150" y="1513200"/>
            <a:ext cx="1611300" cy="1236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1980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Surgimento do </a:t>
            </a:r>
            <a:r>
              <a:rPr b="1" lang="pt-BR">
                <a:solidFill>
                  <a:schemeClr val="lt1"/>
                </a:solidFill>
              </a:rPr>
              <a:t>Deep Learning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2" name="Google Shape;82;p16"/>
          <p:cNvCxnSpPr>
            <a:endCxn id="83" idx="0"/>
          </p:cNvCxnSpPr>
          <p:nvPr/>
        </p:nvCxnSpPr>
        <p:spPr>
          <a:xfrm rot="10800000">
            <a:off x="1213725" y="2806025"/>
            <a:ext cx="39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6"/>
          <p:cNvCxnSpPr>
            <a:stCxn id="83" idx="0"/>
            <a:endCxn id="83" idx="0"/>
          </p:cNvCxnSpPr>
          <p:nvPr/>
        </p:nvCxnSpPr>
        <p:spPr>
          <a:xfrm>
            <a:off x="1213725" y="28060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/>
          <p:nvPr/>
        </p:nvSpPr>
        <p:spPr>
          <a:xfrm>
            <a:off x="1079025" y="2737775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154400" y="2750100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145475" y="2750100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7089150" y="2755025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 rot="10800000">
            <a:off x="2113875" y="2888225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 rot="10800000">
            <a:off x="4150950" y="2895425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 rot="10800000">
            <a:off x="6216825" y="2888225"/>
            <a:ext cx="273300" cy="1404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1889: Demo Rede Convolucional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8675" y="11461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1897: Deep Blue vs. Kasparov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488" y="1686650"/>
            <a:ext cx="6405026" cy="25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2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Inteligência Artificial?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475" y="1180398"/>
            <a:ext cx="6517051" cy="34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1123925" y="2215050"/>
            <a:ext cx="6868500" cy="141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r>
              <a:rPr lang="pt-BR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INTELIGÊNCIA</a:t>
            </a:r>
            <a:r>
              <a:rPr lang="pt-BR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ARTIFICIAL É CAPACIDADE DE UMA MÁQUINA DE REALIZAR TAREFAS QUE REQUEREM INTELIGÊNCIA HUMANA, COMO APRENDER, RACIOCINAR E RESOLVER PROBLEMAS"</a:t>
            </a:r>
            <a:endParaRPr sz="2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Renascimento da Inteligência Artificial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Avanço do poder computacional (GPUs e computação em nuvem)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Crescimento massivo de dados na internet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Explosão do Machine Learning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Criação dos tipos de Aprendizado ( </a:t>
            </a:r>
            <a:r>
              <a:rPr lang="pt-BR" sz="1100">
                <a:solidFill>
                  <a:schemeClr val="dk1"/>
                </a:solidFill>
              </a:rPr>
              <a:t>Supervisionado</a:t>
            </a:r>
            <a:r>
              <a:rPr lang="pt-BR" sz="1100">
                <a:solidFill>
                  <a:schemeClr val="dk1"/>
                </a:solidFill>
              </a:rPr>
              <a:t>, Não-supervisionado, Por Reforço)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000" y="2732230"/>
            <a:ext cx="5285300" cy="18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Intelig</a:t>
            </a:r>
            <a:r>
              <a:rPr lang="pt-BR"/>
              <a:t>ência Artificial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16778"/>
          <a:stretch/>
        </p:blipFill>
        <p:spPr>
          <a:xfrm>
            <a:off x="1704475" y="1345900"/>
            <a:ext cx="5735050" cy="317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Aprendizado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15633"/>
          <a:stretch/>
        </p:blipFill>
        <p:spPr>
          <a:xfrm>
            <a:off x="1126875" y="1127650"/>
            <a:ext cx="6890250" cy="371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IA e Vis</a:t>
            </a:r>
            <a:r>
              <a:rPr lang="pt-BR"/>
              <a:t>ão Computacional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202450" y="1319800"/>
            <a:ext cx="3322500" cy="33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Principais aplicações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Reconhecimento facial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Detecção de objetos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Carros autônomos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Diagnóstico médico por imagem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Monitoramento industrial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Agricultura de precisão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OCR (leitura de textos em imagens)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7819" l="3111" r="1760" t="2615"/>
          <a:stretch/>
        </p:blipFill>
        <p:spPr>
          <a:xfrm>
            <a:off x="3034150" y="1371862"/>
            <a:ext cx="6109849" cy="32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Rede Aprende?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500" y="1191950"/>
            <a:ext cx="5205000" cy="3467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Rede Aprende?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600" y="1330175"/>
            <a:ext cx="6506300" cy="32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CNN</a:t>
            </a:r>
            <a:r>
              <a:rPr lang="pt-BR"/>
              <a:t>'s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38" y="1141025"/>
            <a:ext cx="7879326" cy="354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CNN</a:t>
            </a:r>
            <a:r>
              <a:rPr lang="pt-BR"/>
              <a:t>'s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900" y="341600"/>
            <a:ext cx="5968426" cy="44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CNN</a:t>
            </a:r>
            <a:r>
              <a:rPr lang="pt-BR"/>
              <a:t>'s</a:t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025" y="1490225"/>
            <a:ext cx="7049949" cy="287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</a:t>
            </a:r>
            <a:r>
              <a:rPr lang="pt-BR"/>
              <a:t>ções das CNN's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Reconhecimento facial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Detecção de objetos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Classificação de imagens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Carros autônomos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Diagnóstico médico por imagem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Reconhecimento de placas veiculares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OCR (leitura de textos em imagens)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Monitoramento e segurança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Agricultura de precisão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Drones e robótica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Reconhecimento de gestos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Filtros e efeitos em redes sociais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Sistemas biométricos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Segmentação de imagens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Análise de vídeos em tempo real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Controle de qualidade industrial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Reconhecimento de animais e espécies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IA para jogos e realidade aumentada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Sistemas de vigilância inteligente</a:t>
            </a:r>
            <a:endParaRPr sz="950">
              <a:solidFill>
                <a:schemeClr val="dk1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pt-BR" sz="950">
                <a:solidFill>
                  <a:schemeClr val="dk1"/>
                </a:solidFill>
              </a:rPr>
              <a:t>Contagem automática de pessoas ou objetos</a:t>
            </a:r>
            <a:endParaRPr sz="950">
              <a:solidFill>
                <a:schemeClr val="dk1"/>
              </a:solidFill>
            </a:endParaRPr>
          </a:p>
          <a:p>
            <a:pPr indent="-250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"/>
              <a:buChar char="●"/>
            </a:pPr>
            <a:r>
              <a:t/>
            </a:r>
            <a:endParaRPr sz="350"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450" y="1100600"/>
            <a:ext cx="2437075" cy="13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1038" y="1606525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8155" y="2677525"/>
            <a:ext cx="2475602" cy="16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7128" y="3396750"/>
            <a:ext cx="2298774" cy="13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/>
          <p:cNvPicPr preferRelativeResize="0"/>
          <p:nvPr/>
        </p:nvPicPr>
        <p:blipFill rotWithShape="1">
          <a:blip r:embed="rId7">
            <a:alphaModFix/>
          </a:blip>
          <a:srcRect b="54644" l="0" r="74425" t="0"/>
          <a:stretch/>
        </p:blipFill>
        <p:spPr>
          <a:xfrm>
            <a:off x="7372150" y="775050"/>
            <a:ext cx="1288266" cy="150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FIM DA INTRODU</a:t>
            </a:r>
            <a:r>
              <a:rPr lang="pt-BR"/>
              <a:t>ÇÃO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