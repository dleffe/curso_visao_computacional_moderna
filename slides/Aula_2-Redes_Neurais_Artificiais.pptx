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855ed52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855ed52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855ed52c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855ed52c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855ed52c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855ed52c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855ed52c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855ed52c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855ed52c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855ed52c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855ed52ce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855ed52c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855ed52ce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855ed52ce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855ed52ce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a855ed52ce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Redes Neurais Artificiais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Vis</a:t>
            </a:r>
            <a:r>
              <a:rPr lang="pt-BR"/>
              <a:t>ão Computacional Moderna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Perceptron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16063" l="0" r="0" t="10217"/>
          <a:stretch/>
        </p:blipFill>
        <p:spPr>
          <a:xfrm>
            <a:off x="1083962" y="1017725"/>
            <a:ext cx="6976076" cy="363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</a:t>
            </a:r>
            <a:r>
              <a:rPr lang="pt-BR"/>
              <a:t>ções de Ativação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9587" y="1573449"/>
            <a:ext cx="3078500" cy="15833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2390488" y="1095450"/>
            <a:ext cx="8367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Linear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5187" y="1573450"/>
            <a:ext cx="2959214" cy="15833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5823155" y="1180450"/>
            <a:ext cx="11433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Sigmoid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585675"/>
            <a:ext cx="2786749" cy="14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1286713" y="3192675"/>
            <a:ext cx="8367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Tanh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3600" y="3616050"/>
            <a:ext cx="2692899" cy="140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4251688" y="3223050"/>
            <a:ext cx="8367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ReLU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41650" y="3616050"/>
            <a:ext cx="2590650" cy="136007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6934880" y="3223050"/>
            <a:ext cx="12042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Softmax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 Rede Aprende?</a:t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625650" y="1636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1054950" y="16369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1484250" y="1636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1913550" y="1636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2342850" y="16369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2772150" y="1636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3201450" y="1636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625650" y="2044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1054950" y="20443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1484250" y="2044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1913550" y="2044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2342850" y="20443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2772150" y="2044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3201450" y="2044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625650" y="24517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1054950" y="24517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1484250" y="24517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1913550" y="24517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2342850" y="24517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2772150" y="24517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3201450" y="24517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625650" y="28591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1054950" y="28591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1484250" y="28591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1913550" y="28591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2342850" y="28591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2772150" y="28591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3201450" y="28591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625650" y="32665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1054950" y="32665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1484250" y="32665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1913550" y="32665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2342850" y="32665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2772150" y="32665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3201450" y="32665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625650" y="3673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1054950" y="3673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1484250" y="3673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1913550" y="3673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2342850" y="36739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2772150" y="3673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3201450" y="36739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625650" y="4081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1054950" y="4081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1484250" y="4081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1913550" y="4081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2342850" y="4081300"/>
            <a:ext cx="429300" cy="4074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2772150" y="4081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3201450" y="4081300"/>
            <a:ext cx="429300" cy="407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8650" y="1636900"/>
            <a:ext cx="3001166" cy="295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/>
          <p:nvPr/>
        </p:nvSpPr>
        <p:spPr>
          <a:xfrm>
            <a:off x="3870350" y="2735450"/>
            <a:ext cx="873600" cy="45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a Rede aprende?</a:t>
            </a:r>
            <a:endParaRPr/>
          </a:p>
        </p:txBody>
      </p:sp>
      <p:pic>
        <p:nvPicPr>
          <p:cNvPr id="138" name="Google Shape;138;p17"/>
          <p:cNvPicPr preferRelativeResize="0"/>
          <p:nvPr/>
        </p:nvPicPr>
        <p:blipFill rotWithShape="1">
          <a:blip r:embed="rId3">
            <a:alphaModFix/>
          </a:blip>
          <a:srcRect b="3491" l="2731" r="3434" t="2409"/>
          <a:stretch/>
        </p:blipFill>
        <p:spPr>
          <a:xfrm>
            <a:off x="2107063" y="1338625"/>
            <a:ext cx="4929876" cy="326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</a:t>
            </a:r>
            <a:r>
              <a:rPr lang="pt-BR"/>
              <a:t>á</a:t>
            </a:r>
            <a:r>
              <a:rPr lang="pt-BR"/>
              <a:t>lculo do Resultado</a:t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2369250" y="1886675"/>
            <a:ext cx="429300" cy="4074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</a:t>
            </a:r>
            <a:r>
              <a:rPr lang="pt-BR" sz="600"/>
              <a:t>1</a:t>
            </a:r>
            <a:endParaRPr sz="600"/>
          </a:p>
        </p:txBody>
      </p:sp>
      <p:sp>
        <p:nvSpPr>
          <p:cNvPr id="145" name="Google Shape;145;p18"/>
          <p:cNvSpPr/>
          <p:nvPr/>
        </p:nvSpPr>
        <p:spPr>
          <a:xfrm>
            <a:off x="2369250" y="2294075"/>
            <a:ext cx="429300" cy="4074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i</a:t>
            </a:r>
            <a:r>
              <a:rPr lang="pt-BR" sz="600">
                <a:solidFill>
                  <a:schemeClr val="dk1"/>
                </a:solidFill>
              </a:rPr>
              <a:t>2</a:t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2369250" y="3509800"/>
            <a:ext cx="429300" cy="4074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i</a:t>
            </a:r>
            <a:r>
              <a:rPr lang="pt-BR" sz="600">
                <a:solidFill>
                  <a:schemeClr val="dk1"/>
                </a:solidFill>
              </a:rPr>
              <a:t>…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2369250" y="3917200"/>
            <a:ext cx="429300" cy="4074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i</a:t>
            </a:r>
            <a:r>
              <a:rPr lang="pt-BR" sz="600">
                <a:solidFill>
                  <a:schemeClr val="dk1"/>
                </a:solidFill>
              </a:rPr>
              <a:t>n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2260200" y="2541063"/>
            <a:ext cx="6474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3889750" y="1485750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0</a:t>
            </a:r>
            <a:endParaRPr sz="1183"/>
          </a:p>
        </p:txBody>
      </p:sp>
      <p:sp>
        <p:nvSpPr>
          <p:cNvPr id="150" name="Google Shape;150;p18"/>
          <p:cNvSpPr/>
          <p:nvPr/>
        </p:nvSpPr>
        <p:spPr>
          <a:xfrm>
            <a:off x="3889750" y="1829943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1</a:t>
            </a:r>
            <a:endParaRPr sz="1183"/>
          </a:p>
        </p:txBody>
      </p:sp>
      <p:sp>
        <p:nvSpPr>
          <p:cNvPr id="151" name="Google Shape;151;p18"/>
          <p:cNvSpPr/>
          <p:nvPr/>
        </p:nvSpPr>
        <p:spPr>
          <a:xfrm>
            <a:off x="3889750" y="2174135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2</a:t>
            </a:r>
            <a:endParaRPr sz="1183"/>
          </a:p>
        </p:txBody>
      </p:sp>
      <p:sp>
        <p:nvSpPr>
          <p:cNvPr id="152" name="Google Shape;152;p18"/>
          <p:cNvSpPr/>
          <p:nvPr/>
        </p:nvSpPr>
        <p:spPr>
          <a:xfrm>
            <a:off x="3889750" y="2518328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3</a:t>
            </a:r>
            <a:endParaRPr sz="1183"/>
          </a:p>
        </p:txBody>
      </p:sp>
      <p:sp>
        <p:nvSpPr>
          <p:cNvPr id="153" name="Google Shape;153;p18"/>
          <p:cNvSpPr/>
          <p:nvPr/>
        </p:nvSpPr>
        <p:spPr>
          <a:xfrm>
            <a:off x="3889750" y="2862520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4</a:t>
            </a:r>
            <a:endParaRPr sz="1183"/>
          </a:p>
        </p:txBody>
      </p:sp>
      <p:sp>
        <p:nvSpPr>
          <p:cNvPr id="154" name="Google Shape;154;p18"/>
          <p:cNvSpPr/>
          <p:nvPr/>
        </p:nvSpPr>
        <p:spPr>
          <a:xfrm>
            <a:off x="3889750" y="3206713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5</a:t>
            </a:r>
            <a:endParaRPr sz="1183"/>
          </a:p>
        </p:txBody>
      </p:sp>
      <p:sp>
        <p:nvSpPr>
          <p:cNvPr id="155" name="Google Shape;155;p18"/>
          <p:cNvSpPr/>
          <p:nvPr/>
        </p:nvSpPr>
        <p:spPr>
          <a:xfrm>
            <a:off x="3889750" y="3550905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6</a:t>
            </a:r>
            <a:endParaRPr sz="1183"/>
          </a:p>
        </p:txBody>
      </p:sp>
      <p:sp>
        <p:nvSpPr>
          <p:cNvPr id="156" name="Google Shape;156;p18"/>
          <p:cNvSpPr/>
          <p:nvPr/>
        </p:nvSpPr>
        <p:spPr>
          <a:xfrm>
            <a:off x="3889750" y="3895098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7</a:t>
            </a:r>
            <a:endParaRPr sz="1183"/>
          </a:p>
        </p:txBody>
      </p:sp>
      <p:sp>
        <p:nvSpPr>
          <p:cNvPr id="157" name="Google Shape;157;p18"/>
          <p:cNvSpPr/>
          <p:nvPr/>
        </p:nvSpPr>
        <p:spPr>
          <a:xfrm>
            <a:off x="3889750" y="4239290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8</a:t>
            </a:r>
            <a:endParaRPr sz="1183"/>
          </a:p>
        </p:txBody>
      </p:sp>
      <p:sp>
        <p:nvSpPr>
          <p:cNvPr id="158" name="Google Shape;158;p18"/>
          <p:cNvSpPr/>
          <p:nvPr/>
        </p:nvSpPr>
        <p:spPr>
          <a:xfrm>
            <a:off x="3889750" y="4583483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9</a:t>
            </a:r>
            <a:endParaRPr sz="1183"/>
          </a:p>
        </p:txBody>
      </p:sp>
      <p:sp>
        <p:nvSpPr>
          <p:cNvPr id="159" name="Google Shape;159;p18"/>
          <p:cNvSpPr txBox="1"/>
          <p:nvPr/>
        </p:nvSpPr>
        <p:spPr>
          <a:xfrm rot="-1134011">
            <a:off x="2817482" y="1644830"/>
            <a:ext cx="911335" cy="2691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w</a:t>
            </a:r>
            <a:r>
              <a:rPr lang="pt-BR" sz="700">
                <a:solidFill>
                  <a:schemeClr val="dk2"/>
                </a:solidFill>
              </a:rPr>
              <a:t>10</a:t>
            </a:r>
            <a:r>
              <a:rPr lang="pt-BR" sz="1200">
                <a:solidFill>
                  <a:schemeClr val="dk2"/>
                </a:solidFill>
              </a:rPr>
              <a:t> = 0.23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4318975" y="160295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4318975" y="195775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4318975" y="231255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4318975" y="266735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4318975" y="2914175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4318975" y="3268975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4318975" y="3623775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4318975" y="3978575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4318975" y="432460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4318975" y="467940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618300" y="1559100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0.23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4618300" y="1900150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0.11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4618300" y="2241200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0.67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4618300" y="2609750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4618300" y="28565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0.19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4618300" y="32113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0.57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4618300" y="35661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0.13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4618300" y="39209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0.77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4618300" y="42757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0.36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4618300" y="46305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0.07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4252450" y="1237900"/>
            <a:ext cx="1091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0000"/>
                </a:solidFill>
              </a:rPr>
              <a:t>Resultado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181" name="Google Shape;1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25" y="2233150"/>
            <a:ext cx="1365875" cy="134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480813" y="1237900"/>
            <a:ext cx="1091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0000"/>
                </a:solidFill>
              </a:rPr>
              <a:t>Input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1857600" y="2700525"/>
            <a:ext cx="362700" cy="4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5761200" y="2813450"/>
            <a:ext cx="30711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 i</a:t>
            </a:r>
            <a:r>
              <a:rPr baseline="-25000" lang="pt-BR" sz="1800">
                <a:solidFill>
                  <a:schemeClr val="dk2"/>
                </a:solidFill>
              </a:rPr>
              <a:t>1</a:t>
            </a:r>
            <a:r>
              <a:rPr lang="pt-BR" sz="1800">
                <a:solidFill>
                  <a:schemeClr val="dk2"/>
                </a:solidFill>
              </a:rPr>
              <a:t>·w</a:t>
            </a:r>
            <a:r>
              <a:rPr baseline="-25000" lang="pt-BR" sz="1800">
                <a:solidFill>
                  <a:schemeClr val="dk2"/>
                </a:solidFill>
              </a:rPr>
              <a:t>10</a:t>
            </a:r>
            <a:r>
              <a:rPr lang="pt-BR" sz="1800">
                <a:solidFill>
                  <a:schemeClr val="dk2"/>
                </a:solidFill>
              </a:rPr>
              <a:t>+ … + i</a:t>
            </a:r>
            <a:r>
              <a:rPr baseline="-25000" lang="pt-BR" sz="1800">
                <a:solidFill>
                  <a:schemeClr val="dk2"/>
                </a:solidFill>
              </a:rPr>
              <a:t>n</a:t>
            </a:r>
            <a:r>
              <a:rPr lang="pt-BR" sz="1800">
                <a:solidFill>
                  <a:schemeClr val="dk2"/>
                </a:solidFill>
              </a:rPr>
              <a:t>·w</a:t>
            </a:r>
            <a:r>
              <a:rPr baseline="-25000" lang="pt-BR" sz="1800">
                <a:solidFill>
                  <a:schemeClr val="dk2"/>
                </a:solidFill>
              </a:rPr>
              <a:t>n0</a:t>
            </a:r>
            <a:r>
              <a:rPr lang="pt-BR" sz="1800">
                <a:solidFill>
                  <a:schemeClr val="dk2"/>
                </a:solidFill>
              </a:rPr>
              <a:t>+ b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85" name="Google Shape;185;p18"/>
          <p:cNvCxnSpPr>
            <a:stCxn id="144" idx="6"/>
            <a:endCxn id="149" idx="2"/>
          </p:cNvCxnSpPr>
          <p:nvPr/>
        </p:nvCxnSpPr>
        <p:spPr>
          <a:xfrm flipH="1" rot="10800000">
            <a:off x="2798550" y="1657775"/>
            <a:ext cx="1091100" cy="43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8"/>
          <p:cNvCxnSpPr>
            <a:stCxn id="145" idx="6"/>
            <a:endCxn id="149" idx="2"/>
          </p:cNvCxnSpPr>
          <p:nvPr/>
        </p:nvCxnSpPr>
        <p:spPr>
          <a:xfrm flipH="1" rot="10800000">
            <a:off x="2798550" y="1657775"/>
            <a:ext cx="1091100" cy="8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18"/>
          <p:cNvCxnSpPr>
            <a:stCxn id="148" idx="3"/>
            <a:endCxn id="149" idx="2"/>
          </p:cNvCxnSpPr>
          <p:nvPr/>
        </p:nvCxnSpPr>
        <p:spPr>
          <a:xfrm flipH="1" rot="10800000">
            <a:off x="2907600" y="1657863"/>
            <a:ext cx="982200" cy="134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8"/>
          <p:cNvCxnSpPr>
            <a:stCxn id="146" idx="6"/>
            <a:endCxn id="149" idx="2"/>
          </p:cNvCxnSpPr>
          <p:nvPr/>
        </p:nvCxnSpPr>
        <p:spPr>
          <a:xfrm flipH="1" rot="10800000">
            <a:off x="2798550" y="1657900"/>
            <a:ext cx="1091100" cy="205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18"/>
          <p:cNvCxnSpPr>
            <a:stCxn id="147" idx="6"/>
            <a:endCxn id="149" idx="2"/>
          </p:cNvCxnSpPr>
          <p:nvPr/>
        </p:nvCxnSpPr>
        <p:spPr>
          <a:xfrm flipH="1" rot="10800000">
            <a:off x="2798550" y="1657900"/>
            <a:ext cx="1091100" cy="246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18"/>
          <p:cNvSpPr txBox="1"/>
          <p:nvPr/>
        </p:nvSpPr>
        <p:spPr>
          <a:xfrm>
            <a:off x="7185625" y="1485750"/>
            <a:ext cx="11742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5"/>
                </a:solidFill>
              </a:rPr>
              <a:t>Bias</a:t>
            </a:r>
            <a:endParaRPr sz="12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accent5"/>
                </a:solidFill>
              </a:rPr>
              <a:t>(viés da rede)</a:t>
            </a:r>
            <a:endParaRPr sz="1200">
              <a:solidFill>
                <a:schemeClr val="accent5"/>
              </a:solidFill>
            </a:endParaRPr>
          </a:p>
        </p:txBody>
      </p:sp>
      <p:sp>
        <p:nvSpPr>
          <p:cNvPr id="191" name="Google Shape;191;p18"/>
          <p:cNvSpPr txBox="1"/>
          <p:nvPr/>
        </p:nvSpPr>
        <p:spPr>
          <a:xfrm rot="5400000">
            <a:off x="7664536" y="1660075"/>
            <a:ext cx="2328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accent5"/>
                </a:solidFill>
              </a:rPr>
              <a:t>{</a:t>
            </a:r>
            <a:endParaRPr sz="1800">
              <a:solidFill>
                <a:schemeClr val="accent5"/>
              </a:solidFill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5984700" y="1798550"/>
            <a:ext cx="19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r</a:t>
            </a:r>
            <a:r>
              <a:rPr baseline="-25000" lang="pt-BR" sz="1800">
                <a:solidFill>
                  <a:schemeClr val="dk2"/>
                </a:solidFill>
              </a:rPr>
              <a:t>0</a:t>
            </a:r>
            <a:r>
              <a:rPr lang="pt-BR" sz="1800">
                <a:solidFill>
                  <a:schemeClr val="dk2"/>
                </a:solidFill>
              </a:rPr>
              <a:t> = </a:t>
            </a:r>
            <a:r>
              <a:rPr lang="pt-BR" sz="1800">
                <a:solidFill>
                  <a:schemeClr val="dk2"/>
                </a:solidFill>
              </a:rPr>
              <a:t>𝜮</a:t>
            </a:r>
            <a:r>
              <a:rPr lang="pt-BR" sz="1800">
                <a:solidFill>
                  <a:schemeClr val="dk2"/>
                </a:solidFill>
              </a:rPr>
              <a:t> ( i</a:t>
            </a:r>
            <a:r>
              <a:rPr baseline="-25000" lang="pt-BR" sz="1800">
                <a:solidFill>
                  <a:schemeClr val="dk2"/>
                </a:solidFill>
              </a:rPr>
              <a:t>n</a:t>
            </a:r>
            <a:r>
              <a:rPr lang="pt-BR" sz="1800">
                <a:solidFill>
                  <a:schemeClr val="dk2"/>
                </a:solidFill>
              </a:rPr>
              <a:t>·w</a:t>
            </a:r>
            <a:r>
              <a:rPr baseline="-25000" lang="pt-BR" sz="1800">
                <a:solidFill>
                  <a:schemeClr val="dk2"/>
                </a:solidFill>
              </a:rPr>
              <a:t>n0</a:t>
            </a:r>
            <a:r>
              <a:rPr lang="pt-BR" sz="1800">
                <a:solidFill>
                  <a:schemeClr val="dk2"/>
                </a:solidFill>
              </a:rPr>
              <a:t>) + b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 rot="5400000">
            <a:off x="6777600" y="2320550"/>
            <a:ext cx="362700" cy="4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Balanceamento de Pesos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2369250" y="1886675"/>
            <a:ext cx="429300" cy="4074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</a:t>
            </a:r>
            <a:r>
              <a:rPr lang="pt-BR" sz="600"/>
              <a:t>1</a:t>
            </a:r>
            <a:endParaRPr sz="600"/>
          </a:p>
        </p:txBody>
      </p:sp>
      <p:sp>
        <p:nvSpPr>
          <p:cNvPr id="200" name="Google Shape;200;p19"/>
          <p:cNvSpPr/>
          <p:nvPr/>
        </p:nvSpPr>
        <p:spPr>
          <a:xfrm>
            <a:off x="2369250" y="2294075"/>
            <a:ext cx="429300" cy="4074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i</a:t>
            </a:r>
            <a:r>
              <a:rPr lang="pt-BR" sz="600">
                <a:solidFill>
                  <a:schemeClr val="dk1"/>
                </a:solidFill>
              </a:rPr>
              <a:t>2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2369250" y="3509800"/>
            <a:ext cx="429300" cy="4074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i</a:t>
            </a:r>
            <a:r>
              <a:rPr lang="pt-BR" sz="600">
                <a:solidFill>
                  <a:schemeClr val="dk1"/>
                </a:solidFill>
              </a:rPr>
              <a:t>…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2369250" y="3917200"/>
            <a:ext cx="429300" cy="407400"/>
          </a:xfrm>
          <a:prstGeom prst="ellipse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i</a:t>
            </a:r>
            <a:r>
              <a:rPr lang="pt-BR" sz="600">
                <a:solidFill>
                  <a:schemeClr val="dk1"/>
                </a:solidFill>
              </a:rPr>
              <a:t>n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2260200" y="2541063"/>
            <a:ext cx="6474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3889750" y="1485750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0</a:t>
            </a:r>
            <a:endParaRPr sz="1183"/>
          </a:p>
        </p:txBody>
      </p:sp>
      <p:sp>
        <p:nvSpPr>
          <p:cNvPr id="205" name="Google Shape;205;p19"/>
          <p:cNvSpPr/>
          <p:nvPr/>
        </p:nvSpPr>
        <p:spPr>
          <a:xfrm>
            <a:off x="3889750" y="1829943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1</a:t>
            </a:r>
            <a:endParaRPr sz="1183"/>
          </a:p>
        </p:txBody>
      </p:sp>
      <p:sp>
        <p:nvSpPr>
          <p:cNvPr id="206" name="Google Shape;206;p19"/>
          <p:cNvSpPr/>
          <p:nvPr/>
        </p:nvSpPr>
        <p:spPr>
          <a:xfrm>
            <a:off x="3889750" y="2174135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2</a:t>
            </a:r>
            <a:endParaRPr sz="1183"/>
          </a:p>
        </p:txBody>
      </p:sp>
      <p:sp>
        <p:nvSpPr>
          <p:cNvPr id="207" name="Google Shape;207;p19"/>
          <p:cNvSpPr/>
          <p:nvPr/>
        </p:nvSpPr>
        <p:spPr>
          <a:xfrm>
            <a:off x="3889750" y="2518328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3</a:t>
            </a:r>
            <a:endParaRPr sz="1183"/>
          </a:p>
        </p:txBody>
      </p:sp>
      <p:sp>
        <p:nvSpPr>
          <p:cNvPr id="208" name="Google Shape;208;p19"/>
          <p:cNvSpPr/>
          <p:nvPr/>
        </p:nvSpPr>
        <p:spPr>
          <a:xfrm>
            <a:off x="3889750" y="2862520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4</a:t>
            </a:r>
            <a:endParaRPr sz="1183"/>
          </a:p>
        </p:txBody>
      </p:sp>
      <p:sp>
        <p:nvSpPr>
          <p:cNvPr id="209" name="Google Shape;209;p19"/>
          <p:cNvSpPr/>
          <p:nvPr/>
        </p:nvSpPr>
        <p:spPr>
          <a:xfrm>
            <a:off x="3889750" y="3206713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5</a:t>
            </a:r>
            <a:endParaRPr sz="1183"/>
          </a:p>
        </p:txBody>
      </p:sp>
      <p:sp>
        <p:nvSpPr>
          <p:cNvPr id="210" name="Google Shape;210;p19"/>
          <p:cNvSpPr/>
          <p:nvPr/>
        </p:nvSpPr>
        <p:spPr>
          <a:xfrm>
            <a:off x="3889750" y="3550905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6</a:t>
            </a:r>
            <a:endParaRPr sz="1183"/>
          </a:p>
        </p:txBody>
      </p:sp>
      <p:sp>
        <p:nvSpPr>
          <p:cNvPr id="211" name="Google Shape;211;p19"/>
          <p:cNvSpPr/>
          <p:nvPr/>
        </p:nvSpPr>
        <p:spPr>
          <a:xfrm>
            <a:off x="3889750" y="3895098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7</a:t>
            </a:r>
            <a:endParaRPr sz="1183"/>
          </a:p>
        </p:txBody>
      </p:sp>
      <p:sp>
        <p:nvSpPr>
          <p:cNvPr id="212" name="Google Shape;212;p19"/>
          <p:cNvSpPr/>
          <p:nvPr/>
        </p:nvSpPr>
        <p:spPr>
          <a:xfrm>
            <a:off x="3889750" y="4239290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8</a:t>
            </a:r>
            <a:endParaRPr sz="1183"/>
          </a:p>
        </p:txBody>
      </p:sp>
      <p:sp>
        <p:nvSpPr>
          <p:cNvPr id="213" name="Google Shape;213;p19"/>
          <p:cNvSpPr/>
          <p:nvPr/>
        </p:nvSpPr>
        <p:spPr>
          <a:xfrm>
            <a:off x="3889750" y="4583483"/>
            <a:ext cx="362700" cy="344100"/>
          </a:xfrm>
          <a:prstGeom prst="ellipse">
            <a:avLst/>
          </a:prstGeom>
          <a:solidFill>
            <a:srgbClr val="D9D2E9"/>
          </a:solidFill>
          <a:ln cap="flat" cmpd="sng" w="8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250" lIns="77250" spcFirstLastPara="1" rIns="77250" wrap="square" tIns="77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83"/>
              <a:t>9</a:t>
            </a:r>
            <a:endParaRPr sz="1183"/>
          </a:p>
        </p:txBody>
      </p:sp>
      <p:cxnSp>
        <p:nvCxnSpPr>
          <p:cNvPr id="214" name="Google Shape;214;p19"/>
          <p:cNvCxnSpPr>
            <a:stCxn id="199" idx="6"/>
            <a:endCxn id="204" idx="2"/>
          </p:cNvCxnSpPr>
          <p:nvPr/>
        </p:nvCxnSpPr>
        <p:spPr>
          <a:xfrm flipH="1" rot="10800000">
            <a:off x="2798550" y="1657775"/>
            <a:ext cx="1091100" cy="43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19"/>
          <p:cNvCxnSpPr>
            <a:stCxn id="199" idx="6"/>
            <a:endCxn id="205" idx="2"/>
          </p:cNvCxnSpPr>
          <p:nvPr/>
        </p:nvCxnSpPr>
        <p:spPr>
          <a:xfrm flipH="1" rot="10800000">
            <a:off x="2798550" y="2001875"/>
            <a:ext cx="1091100" cy="8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19"/>
          <p:cNvCxnSpPr>
            <a:stCxn id="199" idx="6"/>
            <a:endCxn id="206" idx="2"/>
          </p:cNvCxnSpPr>
          <p:nvPr/>
        </p:nvCxnSpPr>
        <p:spPr>
          <a:xfrm>
            <a:off x="2798550" y="2090375"/>
            <a:ext cx="1091100" cy="25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19"/>
          <p:cNvCxnSpPr>
            <a:stCxn id="199" idx="6"/>
            <a:endCxn id="207" idx="2"/>
          </p:cNvCxnSpPr>
          <p:nvPr/>
        </p:nvCxnSpPr>
        <p:spPr>
          <a:xfrm>
            <a:off x="2798550" y="2090375"/>
            <a:ext cx="1091100" cy="60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19"/>
          <p:cNvCxnSpPr>
            <a:stCxn id="199" idx="6"/>
            <a:endCxn id="208" idx="2"/>
          </p:cNvCxnSpPr>
          <p:nvPr/>
        </p:nvCxnSpPr>
        <p:spPr>
          <a:xfrm>
            <a:off x="2798550" y="2090375"/>
            <a:ext cx="1091100" cy="94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19"/>
          <p:cNvCxnSpPr>
            <a:stCxn id="199" idx="6"/>
            <a:endCxn id="209" idx="2"/>
          </p:cNvCxnSpPr>
          <p:nvPr/>
        </p:nvCxnSpPr>
        <p:spPr>
          <a:xfrm>
            <a:off x="2798550" y="2090375"/>
            <a:ext cx="1091100" cy="128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19"/>
          <p:cNvCxnSpPr>
            <a:stCxn id="199" idx="6"/>
            <a:endCxn id="210" idx="2"/>
          </p:cNvCxnSpPr>
          <p:nvPr/>
        </p:nvCxnSpPr>
        <p:spPr>
          <a:xfrm>
            <a:off x="2798550" y="2090375"/>
            <a:ext cx="1091100" cy="163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19"/>
          <p:cNvCxnSpPr>
            <a:stCxn id="199" idx="6"/>
            <a:endCxn id="211" idx="2"/>
          </p:cNvCxnSpPr>
          <p:nvPr/>
        </p:nvCxnSpPr>
        <p:spPr>
          <a:xfrm>
            <a:off x="2798550" y="2090375"/>
            <a:ext cx="1091100" cy="197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19"/>
          <p:cNvCxnSpPr>
            <a:stCxn id="199" idx="6"/>
            <a:endCxn id="212" idx="2"/>
          </p:cNvCxnSpPr>
          <p:nvPr/>
        </p:nvCxnSpPr>
        <p:spPr>
          <a:xfrm>
            <a:off x="2798550" y="2090375"/>
            <a:ext cx="1091100" cy="232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19"/>
          <p:cNvCxnSpPr>
            <a:stCxn id="199" idx="6"/>
            <a:endCxn id="213" idx="2"/>
          </p:cNvCxnSpPr>
          <p:nvPr/>
        </p:nvCxnSpPr>
        <p:spPr>
          <a:xfrm>
            <a:off x="2798550" y="2090375"/>
            <a:ext cx="1091100" cy="26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19"/>
          <p:cNvSpPr txBox="1"/>
          <p:nvPr/>
        </p:nvSpPr>
        <p:spPr>
          <a:xfrm rot="-1134011">
            <a:off x="2987432" y="1526380"/>
            <a:ext cx="911335" cy="2691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w</a:t>
            </a:r>
            <a:r>
              <a:rPr lang="pt-BR" sz="700">
                <a:solidFill>
                  <a:schemeClr val="dk2"/>
                </a:solidFill>
              </a:rPr>
              <a:t>11</a:t>
            </a:r>
            <a:r>
              <a:rPr lang="pt-BR" sz="1200">
                <a:solidFill>
                  <a:schemeClr val="dk2"/>
                </a:solidFill>
              </a:rPr>
              <a:t> = 0.23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4318975" y="160295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4318975" y="195775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4318975" y="231255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4318975" y="266735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4318975" y="2914175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4318975" y="3268975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4318975" y="3623775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4318975" y="3978575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>
            <a:off x="4318975" y="432460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4318975" y="4679400"/>
            <a:ext cx="232800" cy="8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4618300" y="1559100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0.23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4618300" y="1900150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0.11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4618300" y="2241200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0.67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4618300" y="2609750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4618300" y="28565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0.19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4618300" y="32113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0.57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4618300" y="35661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0.13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4618300" y="39209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0.77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4618300" y="42757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0.36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4618300" y="4630575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0.07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4252450" y="1237900"/>
            <a:ext cx="1091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0000"/>
                </a:solidFill>
              </a:rPr>
              <a:t>Resultado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246" name="Google Shape;2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425" y="2233150"/>
            <a:ext cx="1365875" cy="134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9"/>
          <p:cNvSpPr txBox="1"/>
          <p:nvPr/>
        </p:nvSpPr>
        <p:spPr>
          <a:xfrm>
            <a:off x="480813" y="1237900"/>
            <a:ext cx="10911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0000"/>
                </a:solidFill>
              </a:rPr>
              <a:t>Input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1857600" y="2700525"/>
            <a:ext cx="362700" cy="43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 txBox="1"/>
          <p:nvPr/>
        </p:nvSpPr>
        <p:spPr>
          <a:xfrm>
            <a:off x="5881000" y="1557588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5881000" y="1898638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5881000" y="2239688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2" name="Google Shape;252;p19"/>
          <p:cNvSpPr txBox="1"/>
          <p:nvPr/>
        </p:nvSpPr>
        <p:spPr>
          <a:xfrm>
            <a:off x="5881000" y="2608238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5881000" y="2855063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1</a:t>
            </a:r>
            <a:r>
              <a:rPr lang="pt-BR" sz="1200">
                <a:solidFill>
                  <a:schemeClr val="dk2"/>
                </a:solidFill>
              </a:rPr>
              <a:t>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5881000" y="3209863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5881000" y="3564663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5881000" y="3919463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5881000" y="4274263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5881000" y="4629063"/>
            <a:ext cx="531000" cy="2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</a:rPr>
              <a:t>0.00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5352850" y="1241344"/>
            <a:ext cx="15873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F0000"/>
                </a:solidFill>
              </a:rPr>
              <a:t>Dado Rotulado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6860000" y="2562175"/>
            <a:ext cx="1896900" cy="20472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Loss Function ou MSE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chemeClr val="dk2"/>
                </a:solidFill>
              </a:rPr>
              <a:t>𝜮</a:t>
            </a:r>
            <a:r>
              <a:rPr baseline="-25000" lang="pt-BR" sz="1800">
                <a:solidFill>
                  <a:schemeClr val="dk2"/>
                </a:solidFill>
              </a:rPr>
              <a:t> </a:t>
            </a:r>
            <a:r>
              <a:rPr lang="pt-BR" sz="1800">
                <a:solidFill>
                  <a:schemeClr val="dk2"/>
                </a:solidFill>
              </a:rPr>
              <a:t>(err</a:t>
            </a:r>
            <a:r>
              <a:rPr baseline="-25000" lang="pt-BR" sz="1800">
                <a:solidFill>
                  <a:schemeClr val="dk2"/>
                </a:solidFill>
              </a:rPr>
              <a:t>n</a:t>
            </a:r>
            <a:r>
              <a:rPr lang="pt-BR" sz="1800">
                <a:solidFill>
                  <a:schemeClr val="dk2"/>
                </a:solidFill>
              </a:rPr>
              <a:t>)</a:t>
            </a:r>
            <a:r>
              <a:rPr baseline="30000" lang="pt-BR" sz="1800">
                <a:solidFill>
                  <a:schemeClr val="dk2"/>
                </a:solidFill>
              </a:rPr>
              <a:t>2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6618950" y="1559100"/>
            <a:ext cx="235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 i</a:t>
            </a:r>
            <a:r>
              <a:rPr baseline="-25000" lang="pt-BR" sz="1800">
                <a:solidFill>
                  <a:schemeClr val="dk2"/>
                </a:solidFill>
              </a:rPr>
              <a:t>1</a:t>
            </a:r>
            <a:r>
              <a:rPr lang="pt-BR" sz="1800">
                <a:solidFill>
                  <a:schemeClr val="dk2"/>
                </a:solidFill>
              </a:rPr>
              <a:t>·w</a:t>
            </a:r>
            <a:r>
              <a:rPr baseline="-25000" lang="pt-BR" sz="1800">
                <a:solidFill>
                  <a:schemeClr val="dk2"/>
                </a:solidFill>
              </a:rPr>
              <a:t>10</a:t>
            </a:r>
            <a:r>
              <a:rPr lang="pt-BR" sz="1800">
                <a:solidFill>
                  <a:schemeClr val="dk2"/>
                </a:solidFill>
              </a:rPr>
              <a:t>+ … + i</a:t>
            </a:r>
            <a:r>
              <a:rPr baseline="-25000" lang="pt-BR" sz="1800">
                <a:solidFill>
                  <a:schemeClr val="dk2"/>
                </a:solidFill>
              </a:rPr>
              <a:t>n</a:t>
            </a:r>
            <a:r>
              <a:rPr lang="pt-BR" sz="1800">
                <a:solidFill>
                  <a:schemeClr val="dk2"/>
                </a:solidFill>
              </a:rPr>
              <a:t>·w</a:t>
            </a:r>
            <a:r>
              <a:rPr baseline="-25000" lang="pt-BR" sz="1800">
                <a:solidFill>
                  <a:schemeClr val="dk2"/>
                </a:solidFill>
              </a:rPr>
              <a:t>n0</a:t>
            </a:r>
            <a:r>
              <a:rPr lang="pt-BR" sz="1800">
                <a:solidFill>
                  <a:schemeClr val="dk2"/>
                </a:solidFill>
              </a:rPr>
              <a:t>+ b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Conceitos Adicionais</a:t>
            </a:r>
            <a:endParaRPr/>
          </a:p>
        </p:txBody>
      </p:sp>
      <p:sp>
        <p:nvSpPr>
          <p:cNvPr id="267" name="Google Shape;26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 sz="1600"/>
              <a:t>Batch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 sz="1600"/>
              <a:t>Epoch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 sz="1600"/>
              <a:t>Learning Rate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 sz="1600"/>
              <a:t>FeedForward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pt-BR" sz="1600"/>
              <a:t>BackPropagation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/>
          </a:p>
        </p:txBody>
      </p:sp>
      <p:pic>
        <p:nvPicPr>
          <p:cNvPr id="268" name="Google Shape;26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1152" y="219425"/>
            <a:ext cx="1855650" cy="1721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9510" y="2078175"/>
            <a:ext cx="4732025" cy="23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FIM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